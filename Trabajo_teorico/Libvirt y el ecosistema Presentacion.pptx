
<file path=[Content_Types].xml><?xml version="1.0" encoding="utf-8"?>
<Types xmlns="http://schemas.openxmlformats.org/package/2006/content-types">
  <Default Extension="80ae8d282d456c804c163c1b40cb3708" ContentType="image/png"/>
  <Default Extension="9df097bce8905fb0bdac38628ae73f3c" ContentType="image/png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23.jpg" ContentType="image/jpeg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2D3CD-4F82-4AD2-BB7C-ADF5A060B471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B3C66-13C8-4335-B192-A41D4ED72E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53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284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6829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253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459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5382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5749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1766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5771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98237-7EFB-D631-F990-9FFD00AB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A6C8A9-6186-449F-59D9-D9C8071EB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CA991D-5304-4C11-1EDE-2C1975F6B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AEBB96-6609-6168-A765-07FA3275A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3178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AF3B-74B6-AEB5-8FC7-110B0836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5F0283-E221-2290-D679-FECA88192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8E1D32-62F3-16A2-069D-E56D1D6B0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56636A-27FE-F3C6-1B62-21FB02D67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190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0F721-FB43-9821-39C9-5E5D17B4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04362B-7C7C-33AD-86B0-31CC25929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A6CEE9-F038-A6D8-B6FD-9735A82F9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4D4CE8-8616-9DBB-C4FE-374867C62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4372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6BF5-F4E5-BA61-A5E1-6252C162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0C5FFA-F265-8E65-52E3-BBBE6F2A2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D2097A-B851-6110-26EB-6D36F752A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DE9FB6-B178-C642-193B-9D2CC3CCE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987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63204-3381-5E54-D5DF-7023B775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8D6C84-F112-37F2-7B2D-5C9E58797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1ED21E-436A-633C-7257-A76AB17C5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956571-BC5F-7504-47FC-467B85A4D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1481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E660-6155-C017-4637-E85E3B97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8D221F-C673-0422-D706-DE3FC09F0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B60A88-4D60-AE3C-6042-0939E43DF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38B88D-782E-A2B2-EF5C-EA277786E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635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72CA3-EE6C-F2DF-D388-3CD4590DC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36ECE2-9140-FB1E-EED2-26721F596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9C370E-DAAF-80BF-68E2-C554B22CE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"En la gestión de redes, </a:t>
            </a:r>
            <a:r>
              <a:rPr lang="es-ES" dirty="0" err="1"/>
              <a:t>Virsh</a:t>
            </a:r>
            <a:r>
              <a:rPr lang="es-ES" dirty="0"/>
              <a:t> nos permite crear conmutadores o switches virtuales. Podemos levantar una red 'NAT', que da salida a internet a la máquina usando la IP del servidor anfitrión pero la mantiene protegida del exterior. Una 'Red Aislada', que no tiene conexión fuera y es perfecta para laboratorios de ciberseguridad. Y la 'Red en Puente' o Bridge, que inyecta a la máquina virtual directamente en la red física de nuestra empresa.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8B0E52-F45A-0979-CD6C-96AFB291C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0435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5362-D930-119A-DD30-EC74074D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B5C4C0-1EF9-621D-BF2D-ACCF6BA92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3D5C39-107C-9F08-6A42-CFDABD2B5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7C98D4-E00B-0CD8-CCA4-299A6A4F2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567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6F06-F0FD-F6C6-5BB2-866B28AF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29BA32-9C13-44AA-136D-D4DFEFBB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3A5651-3F29-503B-43DF-C4932A5D2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7050BA-14B5-1016-5776-5AF14AB5F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3C66-13C8-4335-B192-A41D4ED72E18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25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BE1F3-52F9-0BE4-2CB3-5E5B2E79E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DF0034-54B1-9823-6897-CD4BEF07E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C6351-F773-EDD1-3E0D-C6D61E17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F99A26-C9BC-2273-2091-4658DA42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7790D-64D8-40BC-3A8B-6F451879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910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E3D9F-C79F-98AD-C186-CBCF2EE1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918989-A84E-32C3-1216-AD949D2C4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8BDAFD-AE83-26DF-BACB-4DBFF8ED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1C3FA1-AC6F-030B-A67A-8D1DD86A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D313E6-3267-B0CA-0476-83063E0D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99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0871C-4FDF-8CD8-5DCD-2FAA24B5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BCD2C-EC7F-EBF3-1B14-F637C3FD2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E5876F-7814-46FE-6913-2030DCB7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CA4B12-64E3-1CFF-1923-FB0A264E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A1FCF8-6AE5-C222-34EC-AED2DCA3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191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B14F0-F5CE-5857-0839-4477D052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3E96F5-8B8A-FE74-E9C9-5121A45A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6CFC3-C5D3-3631-67FC-C2FCE1AB3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44FF8-C9A3-5C73-5231-8A3118D1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272DE3-D4D3-0D2F-E1B3-2D2AA2C5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436E7A-925C-18E6-B208-3A6B6BDC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70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0B625-C7E4-907B-88D7-4B952C3A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416430-2C0D-9547-2209-6518D707C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34025E-508E-1851-62B4-66A1ADAFC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82CF42-30C6-8A3C-05C4-50E4AD702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F99D62-A2F5-F636-A553-C032B7663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4376E9-207B-35CB-3DD5-11DC9FE2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2B7B58-1C96-48A4-568A-1C460590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C44E9F-2F8B-A5CE-18B1-91B1C2A8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385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9CBDC-7C68-92EF-292B-7A5C143E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C5F6AD-050F-9D7F-2A94-5C2B1287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9F9E8C-35E6-8BA6-4604-1D4DA1AB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318AA9-5946-0DE1-394B-1DA1105F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283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C0B28B-2DC2-AE77-B7D5-C99CCA66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0A1CD6-6DC2-F728-304D-EE13EFC0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952B63-4CCE-71B5-2D42-311EACC7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459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E0D30-E894-E9B0-A1F7-5D4201C0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87132-BAF3-A560-FDB9-8F0B9F04A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5C0B84-7E2B-6EF1-B310-C1AC51B9D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B1FEFA-D4AD-07B7-474D-3DBED0E1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D4F4F8-0839-8311-74A6-002EB6A8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4D4B96-00CB-C3CA-A883-A85D7933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484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7654B-F117-C07D-66EA-AAF34913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A3EE65-13F4-9BDD-C330-629AEC381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B6AA8B-806D-D249-9B39-28C3A2909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C27660-A75A-9D9B-BC80-11F217C0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2ED53B-49C0-8CC9-7982-15D7285D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63F67A-7BA3-925C-F14F-06CCAAAD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33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1DA80-10FF-A989-C41C-F79237FC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799A7E-186E-28DF-A2B7-EA72F146B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18297B-569A-128A-8848-5011ECA5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42545A-0C24-E254-71F8-0FF8E21F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8D5345-B9B6-2BF3-8F02-6556467E7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97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7565B-19F0-E83C-0B0F-918AD1282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252ED7-E52A-7C4C-6638-D1F2B975A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3513D-8761-F48B-6BDE-BDA811D36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3F03C3-6A67-A00E-9C4F-25E4BD9F8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F2E7D7-2836-5AC2-5D68-7D9460444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10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8686687-196F-EFE4-0960-067586E8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A28346-0222-B374-16AB-92A87C028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71E-D781-382B-2514-81ED032E3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BFB17-0B58-4FD3-946D-51C229A07533}" type="datetimeFigureOut">
              <a:rPr lang="es-ES" smtClean="0"/>
              <a:t>28/06/2026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CC44D3-6F76-73A1-37F4-1826FC08D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E6D126-FBEA-BDD0-D2FD-9278691E1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E553C-8AB9-4060-962A-9FE22FFDB0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537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6832">
        <p14:prism isContent="1"/>
      </p:transition>
    </mc:Choice>
    <mc:Fallback xmlns="">
      <p:transition spd="slow" advTm="6832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8.9df097bce8905fb0bdac38628ae73f3c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80ae8d282d456c804c163c1b40cb3708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8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08D8E-CF82-778E-918F-5FF94D281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0BF12-9954-F115-AE9C-7CE281B2E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s-ES" sz="7200" b="1" dirty="0" err="1">
                <a:latin typeface="Amasis MT Pro Black" panose="020F0502020204030204" pitchFamily="18" charset="0"/>
              </a:rPr>
              <a:t>Libvirt</a:t>
            </a:r>
            <a:r>
              <a:rPr lang="es-ES" sz="7200" b="1" dirty="0">
                <a:latin typeface="Amasis MT Pro Black" panose="020F0502020204030204" pitchFamily="18" charset="0"/>
              </a:rPr>
              <a:t> y el ecosistema</a:t>
            </a:r>
            <a:br>
              <a:rPr lang="es-ES" sz="7200" b="1" dirty="0">
                <a:latin typeface="Amasis MT Pro Black" panose="020F0502020204030204" pitchFamily="18" charset="0"/>
              </a:rPr>
            </a:br>
            <a:r>
              <a:rPr lang="es-ES" sz="7200" b="1" dirty="0">
                <a:latin typeface="Amasis MT Pro Black" panose="020F0502020204030204" pitchFamily="18" charset="0"/>
              </a:rPr>
              <a:t>KVM/QEMU</a:t>
            </a:r>
            <a:endParaRPr lang="es-ES" sz="7200" dirty="0">
              <a:latin typeface="Amasis MT Pro Black" panose="020F05020202040302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494374-22DF-EB10-22C1-00684AC07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8944"/>
            <a:ext cx="9144000" cy="1655762"/>
          </a:xfrm>
        </p:spPr>
        <p:txBody>
          <a:bodyPr/>
          <a:lstStyle/>
          <a:p>
            <a:r>
              <a:rPr lang="es-ES" b="1" dirty="0"/>
              <a:t>Gestión y Administración de Redes</a:t>
            </a:r>
          </a:p>
          <a:p>
            <a:endParaRPr lang="es-ES" b="1" dirty="0">
              <a:latin typeface="Amasis MT Pro" panose="02040504050005020304" pitchFamily="18" charset="0"/>
            </a:endParaRPr>
          </a:p>
          <a:p>
            <a:r>
              <a:rPr lang="es-ES" b="1" dirty="0"/>
              <a:t>Presentado por: Samuel Vicente Valiente López</a:t>
            </a:r>
          </a:p>
        </p:txBody>
      </p:sp>
    </p:spTree>
    <p:extLst>
      <p:ext uri="{BB962C8B-B14F-4D97-AF65-F5344CB8AC3E}">
        <p14:creationId xmlns:p14="http://schemas.microsoft.com/office/powerpoint/2010/main" val="4200384872"/>
      </p:ext>
    </p:extLst>
  </p:cSld>
  <p:clrMapOvr>
    <a:masterClrMapping/>
  </p:clrMapOvr>
  <p:transition spd="slow" advTm="37955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FFE32-7575-0A2D-5DCB-0F4D276C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F764F-378A-CE4B-DA54-E685BE546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053" y="489760"/>
            <a:ext cx="7523746" cy="673476"/>
          </a:xfrm>
        </p:spPr>
        <p:txBody>
          <a:bodyPr>
            <a:noAutofit/>
          </a:bodyPr>
          <a:lstStyle/>
          <a:p>
            <a:pPr algn="just"/>
            <a:r>
              <a:rPr lang="es-ES" b="1" dirty="0">
                <a:latin typeface="Amasis MT Pro Black" panose="020F0502020204030204" pitchFamily="18" charset="0"/>
              </a:rPr>
              <a:t>1</a:t>
            </a:r>
            <a:r>
              <a:rPr lang="es-ES" sz="5400" b="1" dirty="0">
                <a:latin typeface="Amasis MT Pro Black" panose="020F0502020204030204" pitchFamily="18" charset="0"/>
              </a:rPr>
              <a:t>. Introducción</a:t>
            </a:r>
            <a:endParaRPr lang="es-ES" dirty="0">
              <a:latin typeface="Amasis MT Pro Black" panose="020F0502020204030204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08B7CB2-4038-3A38-07F7-19C8999DF262}"/>
              </a:ext>
            </a:extLst>
          </p:cNvPr>
          <p:cNvSpPr txBox="1">
            <a:spLocks/>
          </p:cNvSpPr>
          <p:nvPr/>
        </p:nvSpPr>
        <p:spPr>
          <a:xfrm>
            <a:off x="737936" y="1271976"/>
            <a:ext cx="10363200" cy="6734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400" b="1" dirty="0">
                <a:latin typeface="Amasis MT Pro Black" panose="020F0502020204030204" pitchFamily="18" charset="0"/>
              </a:rPr>
              <a:t>  </a:t>
            </a:r>
            <a:r>
              <a:rPr lang="es-ES" sz="4000" b="1" dirty="0">
                <a:latin typeface="Amasis MT Pro Black" panose="020F0502020204030204" pitchFamily="18" charset="0"/>
              </a:rPr>
              <a:t>1.1 ¿Qué es la virtualización?</a:t>
            </a:r>
            <a:endParaRPr lang="es-ES" sz="5400" dirty="0">
              <a:latin typeface="Amasis MT Pro Black" panose="020F0502020204030204" pitchFamily="18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1BFAC67-4564-0AF5-FBD5-5F66FB3D6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720143"/>
              </p:ext>
            </p:extLst>
          </p:nvPr>
        </p:nvGraphicFramePr>
        <p:xfrm>
          <a:off x="753979" y="2314714"/>
          <a:ext cx="10684041" cy="3466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1347">
                  <a:extLst>
                    <a:ext uri="{9D8B030D-6E8A-4147-A177-3AD203B41FA5}">
                      <a16:colId xmlns:a16="http://schemas.microsoft.com/office/drawing/2014/main" val="1501441497"/>
                    </a:ext>
                  </a:extLst>
                </a:gridCol>
                <a:gridCol w="3561347">
                  <a:extLst>
                    <a:ext uri="{9D8B030D-6E8A-4147-A177-3AD203B41FA5}">
                      <a16:colId xmlns:a16="http://schemas.microsoft.com/office/drawing/2014/main" val="3194974213"/>
                    </a:ext>
                  </a:extLst>
                </a:gridCol>
                <a:gridCol w="3561347">
                  <a:extLst>
                    <a:ext uri="{9D8B030D-6E8A-4147-A177-3AD203B41FA5}">
                      <a16:colId xmlns:a16="http://schemas.microsoft.com/office/drawing/2014/main" val="913611712"/>
                    </a:ext>
                  </a:extLst>
                </a:gridCol>
              </a:tblGrid>
              <a:tr h="631815">
                <a:tc>
                  <a:txBody>
                    <a:bodyPr/>
                    <a:lstStyle/>
                    <a:p>
                      <a:pPr algn="ctr"/>
                      <a:r>
                        <a:rPr lang="es-ES" sz="3000" dirty="0">
                          <a:latin typeface="Amasis MT Pro" panose="02040504050005020304" pitchFamily="18" charset="0"/>
                        </a:rPr>
                        <a:t>Abstracción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dirty="0">
                          <a:latin typeface="Amasis MT Pro" panose="02040504050005020304" pitchFamily="18" charset="0"/>
                        </a:rPr>
                        <a:t>Seguridad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dirty="0">
                          <a:latin typeface="Amasis MT Pro" panose="02040504050005020304" pitchFamily="18" charset="0"/>
                        </a:rPr>
                        <a:t>Eficiencia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470817"/>
                  </a:ext>
                </a:extLst>
              </a:tr>
              <a:tr h="958734">
                <a:tc>
                  <a:txBody>
                    <a:bodyPr/>
                    <a:lstStyle/>
                    <a:p>
                      <a:pPr algn="just"/>
                      <a:r>
                        <a:rPr lang="es-ES" sz="3000" b="0" i="0" kern="1200" dirty="0">
                          <a:solidFill>
                            <a:schemeClr val="dk1"/>
                          </a:solidFill>
                          <a:effectLst/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Separación de los recursos físicos (CPU, RAM, Red) para crear entornos virtuales independientes</a:t>
                      </a:r>
                      <a:endParaRPr lang="es-ES" sz="30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3000" b="0" i="0" kern="1200" dirty="0">
                          <a:solidFill>
                            <a:schemeClr val="dk1"/>
                          </a:solidFill>
                          <a:effectLst/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Aislamiento total entre máquinas. Si una falla, el resto de la red permanece intacta</a:t>
                      </a:r>
                      <a:endParaRPr lang="es-ES" sz="30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3000" b="0" i="0" kern="1200" dirty="0">
                          <a:solidFill>
                            <a:schemeClr val="dk1"/>
                          </a:solidFill>
                          <a:effectLst/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Simulación de topologías de red complejas sin coste adicional en hardware físico</a:t>
                      </a:r>
                      <a:endParaRPr lang="es-ES" sz="30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310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03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600">
        <p14:prism isContent="1"/>
      </p:transition>
    </mc:Choice>
    <mc:Fallback xmlns="">
      <p:transition spd="slow" advTm="596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3EBF8-1398-3B10-5D74-B9E35413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E6523C3-B5F8-E516-EE3C-6A19B3DBDC16}"/>
              </a:ext>
            </a:extLst>
          </p:cNvPr>
          <p:cNvSpPr txBox="1">
            <a:spLocks/>
          </p:cNvSpPr>
          <p:nvPr/>
        </p:nvSpPr>
        <p:spPr>
          <a:xfrm>
            <a:off x="352667" y="525863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400" b="1" dirty="0">
                <a:latin typeface="Amasis MT Pro Black" panose="020F0502020204030204" pitchFamily="18" charset="0"/>
              </a:rPr>
              <a:t>  </a:t>
            </a:r>
            <a:r>
              <a:rPr lang="es-ES" sz="4000" b="1" dirty="0">
                <a:latin typeface="Amasis MT Pro Black" panose="020F0502020204030204" pitchFamily="18" charset="0"/>
              </a:rPr>
              <a:t>1.2 ¿Por qué es fundamental en administración de redes?</a:t>
            </a:r>
            <a:endParaRPr lang="es-ES" sz="5400" dirty="0">
              <a:latin typeface="Amasis MT Pro Black" panose="020F0502020204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565486-6464-389A-1279-377B623A9053}"/>
              </a:ext>
            </a:extLst>
          </p:cNvPr>
          <p:cNvSpPr txBox="1"/>
          <p:nvPr/>
        </p:nvSpPr>
        <p:spPr>
          <a:xfrm>
            <a:off x="163509" y="2303294"/>
            <a:ext cx="4373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Amasis MT Pro" panose="02040504050005020304" pitchFamily="18" charset="0"/>
              </a:rPr>
              <a:t>a. Simulación sin coste de hardware</a:t>
            </a:r>
          </a:p>
        </p:txBody>
      </p:sp>
      <p:pic>
        <p:nvPicPr>
          <p:cNvPr id="7" name="Imagen 6" descr="Ilustración de Signo De Prohibición De Dinero Icono Del Dólar Prohibido ...">
            <a:extLst>
              <a:ext uri="{FF2B5EF4-FFF2-40B4-BE49-F238E27FC236}">
                <a16:creationId xmlns:a16="http://schemas.microsoft.com/office/drawing/2014/main" id="{3D9EDCFA-1E7C-C79B-4246-E8F25E86B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55909" y="1994967"/>
            <a:ext cx="1940091" cy="194009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68AE405-6377-DCF6-0074-7627A0B23EED}"/>
              </a:ext>
            </a:extLst>
          </p:cNvPr>
          <p:cNvSpPr txBox="1"/>
          <p:nvPr/>
        </p:nvSpPr>
        <p:spPr>
          <a:xfrm>
            <a:off x="163509" y="4490936"/>
            <a:ext cx="3818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Amasis MT Pro" panose="02040504050005020304" pitchFamily="18" charset="0"/>
              </a:rPr>
              <a:t>b. Aislamiento y Seguridad</a:t>
            </a:r>
          </a:p>
        </p:txBody>
      </p:sp>
      <p:pic>
        <p:nvPicPr>
          <p:cNvPr id="11" name="Imagen 10" descr="Seguridad en Redes - SENA: Planificación de la seguridad en redes">
            <a:extLst>
              <a:ext uri="{FF2B5EF4-FFF2-40B4-BE49-F238E27FC236}">
                <a16:creationId xmlns:a16="http://schemas.microsoft.com/office/drawing/2014/main" id="{FC81D741-87A9-410C-9463-6E93DA86D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155908" y="4097016"/>
            <a:ext cx="1940092" cy="211127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8934EFF-7717-4B6C-F431-7709056A6AA4}"/>
              </a:ext>
            </a:extLst>
          </p:cNvPr>
          <p:cNvSpPr txBox="1"/>
          <p:nvPr/>
        </p:nvSpPr>
        <p:spPr>
          <a:xfrm>
            <a:off x="6342568" y="2303294"/>
            <a:ext cx="4373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Amasis MT Pro" panose="02040504050005020304" pitchFamily="18" charset="0"/>
              </a:rPr>
              <a:t>c. Flexibilidad, agilidad</a:t>
            </a:r>
          </a:p>
        </p:txBody>
      </p:sp>
      <p:pic>
        <p:nvPicPr>
          <p:cNvPr id="14" name="Imagen 13" descr="Planificacion y gestion de red - Unidad I. INTRODUCCIÓN A LA GESTIÓN DE ...">
            <a:extLst>
              <a:ext uri="{FF2B5EF4-FFF2-40B4-BE49-F238E27FC236}">
                <a16:creationId xmlns:a16="http://schemas.microsoft.com/office/drawing/2014/main" id="{D61875EC-D587-278D-A3C0-76729F027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810751" y="1968799"/>
            <a:ext cx="1940091" cy="194009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6A77F8A-91A2-BD1F-07E2-FA4F2F3151F5}"/>
              </a:ext>
            </a:extLst>
          </p:cNvPr>
          <p:cNvSpPr txBox="1"/>
          <p:nvPr/>
        </p:nvSpPr>
        <p:spPr>
          <a:xfrm>
            <a:off x="6270378" y="4798711"/>
            <a:ext cx="437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Amasis MT Pro" panose="02040504050005020304" pitchFamily="18" charset="0"/>
              </a:rPr>
              <a:t>d. SDN y NFV</a:t>
            </a:r>
          </a:p>
        </p:txBody>
      </p:sp>
      <p:pic>
        <p:nvPicPr>
          <p:cNvPr id="17" name="Imagen 16" descr="Broadband Forum SDN/NFV Work Area launches four new projects at Bangkok ...">
            <a:extLst>
              <a:ext uri="{FF2B5EF4-FFF2-40B4-BE49-F238E27FC236}">
                <a16:creationId xmlns:a16="http://schemas.microsoft.com/office/drawing/2014/main" id="{E768134F-76FF-E50B-C8E4-EB0450CF8B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899062" y="4431510"/>
            <a:ext cx="1633647" cy="150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5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562">
        <p14:prism isContent="1"/>
      </p:transition>
    </mc:Choice>
    <mc:Fallback xmlns="">
      <p:transition spd="slow" advTm="72562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092CC-2E6C-58E6-969C-3DEDA3E7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3708699-BFE8-96F9-EAD2-DA62E3D0D0E0}"/>
              </a:ext>
            </a:extLst>
          </p:cNvPr>
          <p:cNvSpPr txBox="1">
            <a:spLocks/>
          </p:cNvSpPr>
          <p:nvPr/>
        </p:nvSpPr>
        <p:spPr>
          <a:xfrm>
            <a:off x="441158" y="191368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4400" b="1" dirty="0">
                <a:latin typeface="Amasis MT Pro Black" panose="020F0502020204030204" pitchFamily="18" charset="0"/>
              </a:rPr>
              <a:t>  1.3 Comparativa Hipervisores </a:t>
            </a:r>
            <a:endParaRPr lang="es-ES" sz="4400" dirty="0">
              <a:latin typeface="Amasis MT Pro Black" panose="020F0502020204030204" pitchFamily="18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54CB91B-3326-7A20-E9A6-FE0F132FD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30674"/>
              </p:ext>
            </p:extLst>
          </p:nvPr>
        </p:nvGraphicFramePr>
        <p:xfrm>
          <a:off x="994610" y="1769679"/>
          <a:ext cx="10202780" cy="4141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390">
                  <a:extLst>
                    <a:ext uri="{9D8B030D-6E8A-4147-A177-3AD203B41FA5}">
                      <a16:colId xmlns:a16="http://schemas.microsoft.com/office/drawing/2014/main" val="1501441497"/>
                    </a:ext>
                  </a:extLst>
                </a:gridCol>
                <a:gridCol w="5101390">
                  <a:extLst>
                    <a:ext uri="{9D8B030D-6E8A-4147-A177-3AD203B41FA5}">
                      <a16:colId xmlns:a16="http://schemas.microsoft.com/office/drawing/2014/main" val="3194974213"/>
                    </a:ext>
                  </a:extLst>
                </a:gridCol>
              </a:tblGrid>
              <a:tr h="971514">
                <a:tc>
                  <a:txBody>
                    <a:bodyPr/>
                    <a:lstStyle/>
                    <a:p>
                      <a:pPr algn="ctr"/>
                      <a:r>
                        <a:rPr lang="es-ES" sz="3000" dirty="0">
                          <a:latin typeface="Amasis MT Pro" panose="02040504050005020304" pitchFamily="18" charset="0"/>
                        </a:rPr>
                        <a:t>Tipo 1 (Bare-metal)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dirty="0">
                          <a:latin typeface="Amasis MT Pro" panose="02040504050005020304" pitchFamily="18" charset="0"/>
                        </a:rPr>
                        <a:t>Tipo 2 (</a:t>
                      </a:r>
                      <a:r>
                        <a:rPr lang="es-ES" sz="3000" dirty="0" err="1">
                          <a:latin typeface="Amasis MT Pro" panose="02040504050005020304" pitchFamily="18" charset="0"/>
                        </a:rPr>
                        <a:t>Hosted</a:t>
                      </a:r>
                      <a:r>
                        <a:rPr lang="es-ES" sz="3000" dirty="0">
                          <a:latin typeface="Amasis MT Pro" panose="020405040500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470817"/>
                  </a:ext>
                </a:extLst>
              </a:tr>
              <a:tr h="586695"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Se ejecuta sobre el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Se ejecuta sobre un sistema operativo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310953"/>
                  </a:ext>
                </a:extLst>
              </a:tr>
              <a:tr h="586695"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Alto rendimiento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Mayor sobrecarga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073954"/>
                  </a:ext>
                </a:extLst>
              </a:tr>
              <a:tr h="586696"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Mayor seguridad y aislamiento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Fácil de instalar y usar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901818"/>
                  </a:ext>
                </a:extLst>
              </a:tr>
              <a:tr h="586695"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Centros de datos y servidores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Amasis MT Pro" panose="02040504050005020304" pitchFamily="18" charset="0"/>
                        </a:rPr>
                        <a:t>Desarrollo y pruebas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85392"/>
                  </a:ext>
                </a:extLst>
              </a:tr>
              <a:tr h="586695">
                <a:tc>
                  <a:txBody>
                    <a:bodyPr/>
                    <a:lstStyle/>
                    <a:p>
                      <a:r>
                        <a:rPr lang="es-ES" sz="2400" b="1" dirty="0">
                          <a:latin typeface="Amasis MT Pro" panose="02040504050005020304" pitchFamily="18" charset="0"/>
                        </a:rPr>
                        <a:t>Ejemplos: </a:t>
                      </a:r>
                      <a:r>
                        <a:rPr lang="es-ES" sz="2400" dirty="0" err="1">
                          <a:latin typeface="Amasis MT Pro" panose="02040504050005020304" pitchFamily="18" charset="0"/>
                        </a:rPr>
                        <a:t>Vmware</a:t>
                      </a:r>
                      <a:r>
                        <a:rPr lang="es-ES" sz="2400" dirty="0">
                          <a:latin typeface="Amasis MT Pro" panose="02040504050005020304" pitchFamily="18" charset="0"/>
                        </a:rPr>
                        <a:t> </a:t>
                      </a:r>
                      <a:r>
                        <a:rPr lang="es-ES" sz="2400" dirty="0" err="1">
                          <a:latin typeface="Amasis MT Pro" panose="02040504050005020304" pitchFamily="18" charset="0"/>
                        </a:rPr>
                        <a:t>ESXi</a:t>
                      </a:r>
                      <a:r>
                        <a:rPr lang="es-ES" sz="2400" dirty="0">
                          <a:latin typeface="Amasis MT Pro" panose="02040504050005020304" pitchFamily="18" charset="0"/>
                        </a:rPr>
                        <a:t>, </a:t>
                      </a:r>
                      <a:r>
                        <a:rPr lang="es-ES" sz="2400" dirty="0" err="1">
                          <a:latin typeface="Amasis MT Pro" panose="02040504050005020304" pitchFamily="18" charset="0"/>
                        </a:rPr>
                        <a:t>Hyper</a:t>
                      </a:r>
                      <a:r>
                        <a:rPr lang="es-ES" sz="2400" dirty="0">
                          <a:latin typeface="Amasis MT Pro" panose="02040504050005020304" pitchFamily="18" charset="0"/>
                        </a:rPr>
                        <a:t>-V, Xen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latin typeface="Amasis MT Pro" panose="02040504050005020304" pitchFamily="18" charset="0"/>
                        </a:rPr>
                        <a:t>Ejemplos:</a:t>
                      </a:r>
                      <a:r>
                        <a:rPr lang="es-ES" sz="2400" dirty="0">
                          <a:latin typeface="Amasis MT Pro" panose="02040504050005020304" pitchFamily="18" charset="0"/>
                        </a:rPr>
                        <a:t> VirtualBox, </a:t>
                      </a:r>
                      <a:r>
                        <a:rPr lang="es-ES" sz="2400" dirty="0" err="1">
                          <a:latin typeface="Amasis MT Pro" panose="02040504050005020304" pitchFamily="18" charset="0"/>
                        </a:rPr>
                        <a:t>Vmware</a:t>
                      </a:r>
                      <a:r>
                        <a:rPr lang="es-ES" sz="2400" dirty="0">
                          <a:latin typeface="Amasis MT Pro" panose="02040504050005020304" pitchFamily="18" charset="0"/>
                        </a:rPr>
                        <a:t> Workstation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8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27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775">
        <p14:prism isContent="1"/>
      </p:transition>
    </mc:Choice>
    <mc:Fallback xmlns="">
      <p:transition spd="slow" advTm="60775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425B3-6403-32C9-CE40-23A73FA6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18B91DF0-43C3-C24A-F004-3BBEEAD1A154}"/>
              </a:ext>
            </a:extLst>
          </p:cNvPr>
          <p:cNvSpPr txBox="1">
            <a:spLocks/>
          </p:cNvSpPr>
          <p:nvPr/>
        </p:nvSpPr>
        <p:spPr>
          <a:xfrm>
            <a:off x="441158" y="191368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2. El </a:t>
            </a:r>
            <a:r>
              <a:rPr lang="es-ES" sz="5000" b="1" dirty="0" err="1">
                <a:latin typeface="Amasis MT Pro Black" panose="020F0502020204030204" pitchFamily="18" charset="0"/>
              </a:rPr>
              <a:t>core</a:t>
            </a:r>
            <a:r>
              <a:rPr lang="es-ES" sz="5000" b="1" dirty="0">
                <a:latin typeface="Amasis MT Pro Black" panose="020F0502020204030204" pitchFamily="18" charset="0"/>
              </a:rPr>
              <a:t> tecnológico 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320C5D9-7F9E-76E4-5314-DEB765B634BB}"/>
              </a:ext>
            </a:extLst>
          </p:cNvPr>
          <p:cNvSpPr txBox="1">
            <a:spLocks/>
          </p:cNvSpPr>
          <p:nvPr/>
        </p:nvSpPr>
        <p:spPr>
          <a:xfrm>
            <a:off x="1235760" y="1125691"/>
            <a:ext cx="4203032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7200" b="1" dirty="0">
                <a:latin typeface="Amasis MT Pro Black" panose="020F0502020204030204" pitchFamily="18" charset="0"/>
              </a:rPr>
              <a:t>  </a:t>
            </a:r>
            <a:r>
              <a:rPr lang="es-ES" sz="4000" b="1" dirty="0">
                <a:latin typeface="Amasis MT Pro Black" panose="020F0502020204030204" pitchFamily="18" charset="0"/>
              </a:rPr>
              <a:t>2.1. KVM</a:t>
            </a:r>
            <a:endParaRPr lang="es-ES" sz="7200" dirty="0">
              <a:latin typeface="Amasis MT Pro Black" panose="020F0502020204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11A8DBF-5F19-3357-F303-1F86E2AF59A2}"/>
              </a:ext>
            </a:extLst>
          </p:cNvPr>
          <p:cNvSpPr txBox="1"/>
          <p:nvPr/>
        </p:nvSpPr>
        <p:spPr>
          <a:xfrm>
            <a:off x="282737" y="2354983"/>
            <a:ext cx="11626525" cy="3483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000" dirty="0">
                <a:latin typeface="Amasis MT Pro" panose="02040504050005020304" pitchFamily="18" charset="0"/>
              </a:rPr>
              <a:t>🔧Integrado en el </a:t>
            </a:r>
            <a:r>
              <a:rPr lang="es-ES" sz="3000" b="1" dirty="0" err="1">
                <a:latin typeface="Amasis MT Pro" panose="02040504050005020304" pitchFamily="18" charset="0"/>
              </a:rPr>
              <a:t>kernel</a:t>
            </a:r>
            <a:r>
              <a:rPr lang="es-ES" sz="3000" b="1" dirty="0">
                <a:latin typeface="Amasis MT Pro" panose="02040504050005020304" pitchFamily="18" charset="0"/>
              </a:rPr>
              <a:t> de Linux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000" dirty="0">
                <a:latin typeface="Amasis MT Pro" panose="02040504050005020304" pitchFamily="18" charset="0"/>
              </a:rPr>
              <a:t>⚙️ Convierte Linux en un </a:t>
            </a:r>
            <a:r>
              <a:rPr lang="es-ES" sz="3000" b="1" dirty="0">
                <a:latin typeface="Amasis MT Pro" panose="02040504050005020304" pitchFamily="18" charset="0"/>
              </a:rPr>
              <a:t>hipervisor Tipo 1</a:t>
            </a:r>
            <a:r>
              <a:rPr lang="es-ES" sz="3000" dirty="0">
                <a:latin typeface="Amasis MT Pro" panose="02040504050005020304" pitchFamily="18" charset="0"/>
              </a:rPr>
              <a:t>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000" dirty="0">
                <a:latin typeface="Amasis MT Pro" panose="02040504050005020304" pitchFamily="18" charset="0"/>
              </a:rPr>
              <a:t>🚀 Utiliza la virtualización por hardware (</a:t>
            </a:r>
            <a:r>
              <a:rPr lang="es-ES" sz="3000" b="1" dirty="0">
                <a:latin typeface="Amasis MT Pro" panose="02040504050005020304" pitchFamily="18" charset="0"/>
              </a:rPr>
              <a:t>Intel VT-x / AMD-V</a:t>
            </a:r>
            <a:r>
              <a:rPr lang="es-ES" sz="3000" dirty="0">
                <a:latin typeface="Amasis MT Pro" panose="02040504050005020304" pitchFamily="18" charset="0"/>
              </a:rPr>
              <a:t>).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000" dirty="0">
                <a:latin typeface="Amasis MT Pro" panose="02040504050005020304" pitchFamily="18" charset="0"/>
              </a:rPr>
              <a:t>⚡ Rendimiento </a:t>
            </a:r>
            <a:r>
              <a:rPr lang="es-ES" sz="3000" b="1" dirty="0">
                <a:latin typeface="Amasis MT Pro" panose="02040504050005020304" pitchFamily="18" charset="0"/>
              </a:rPr>
              <a:t>casi nativo</a:t>
            </a:r>
            <a:r>
              <a:rPr lang="es-ES" sz="3000" dirty="0">
                <a:latin typeface="Amasis MT Pro" panose="02040504050005020304" pitchFamily="18" charset="0"/>
              </a:rPr>
              <a:t>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000" dirty="0">
                <a:latin typeface="Amasis MT Pro" panose="02040504050005020304" pitchFamily="18" charset="0"/>
              </a:rPr>
              <a:t>🖥️ Cada máquina virtual se ejecuta como un </a:t>
            </a:r>
            <a:r>
              <a:rPr lang="es-ES" sz="3000" b="1" dirty="0">
                <a:latin typeface="Amasis MT Pro" panose="02040504050005020304" pitchFamily="18" charset="0"/>
              </a:rPr>
              <a:t>proceso de Linux</a:t>
            </a:r>
            <a:r>
              <a:rPr lang="es-ES" sz="3000" dirty="0">
                <a:latin typeface="Amasis MT Pro" panose="02040504050005020304" pitchFamily="18" charset="0"/>
              </a:rPr>
              <a:t>.</a:t>
            </a:r>
            <a:endParaRPr lang="es-ES" sz="3000" b="1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52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069">
        <p14:prism isContent="1"/>
      </p:transition>
    </mc:Choice>
    <mc:Fallback xmlns="">
      <p:transition spd="slow" advTm="72069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4FB7A-BF49-4E9A-C75A-3A0DFF7B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21BAEB0-39ED-D46F-F5AF-61E57068F2ED}"/>
              </a:ext>
            </a:extLst>
          </p:cNvPr>
          <p:cNvSpPr txBox="1">
            <a:spLocks/>
          </p:cNvSpPr>
          <p:nvPr/>
        </p:nvSpPr>
        <p:spPr>
          <a:xfrm>
            <a:off x="441158" y="191368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2. El </a:t>
            </a:r>
            <a:r>
              <a:rPr lang="es-ES" sz="5000" b="1" dirty="0" err="1">
                <a:latin typeface="Amasis MT Pro Black" panose="020F0502020204030204" pitchFamily="18" charset="0"/>
              </a:rPr>
              <a:t>core</a:t>
            </a:r>
            <a:r>
              <a:rPr lang="es-ES" sz="5000" b="1" dirty="0">
                <a:latin typeface="Amasis MT Pro Black" panose="020F0502020204030204" pitchFamily="18" charset="0"/>
              </a:rPr>
              <a:t> tecnológico 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5BE2163-E110-0D50-8918-F46071AFB50E}"/>
              </a:ext>
            </a:extLst>
          </p:cNvPr>
          <p:cNvSpPr txBox="1">
            <a:spLocks/>
          </p:cNvSpPr>
          <p:nvPr/>
        </p:nvSpPr>
        <p:spPr>
          <a:xfrm>
            <a:off x="1235760" y="1125691"/>
            <a:ext cx="4203032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7200" b="1" dirty="0">
                <a:latin typeface="Amasis MT Pro Black" panose="020F0502020204030204" pitchFamily="18" charset="0"/>
              </a:rPr>
              <a:t>  </a:t>
            </a:r>
            <a:r>
              <a:rPr lang="es-ES" sz="4000" b="1" dirty="0">
                <a:latin typeface="Amasis MT Pro Black" panose="020F0502020204030204" pitchFamily="18" charset="0"/>
              </a:rPr>
              <a:t>2.2. QEMU</a:t>
            </a:r>
            <a:endParaRPr lang="es-ES" sz="7200" dirty="0">
              <a:latin typeface="Amasis MT Pro Black" panose="020F0502020204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482BA0-9E19-10C1-04C5-9ACCEF6BAA31}"/>
              </a:ext>
            </a:extLst>
          </p:cNvPr>
          <p:cNvSpPr txBox="1"/>
          <p:nvPr/>
        </p:nvSpPr>
        <p:spPr>
          <a:xfrm>
            <a:off x="282737" y="2256659"/>
            <a:ext cx="11626525" cy="3711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Amasis MT Pro" panose="02040504050005020304" pitchFamily="18" charset="0"/>
              </a:rPr>
              <a:t>🖥️ Emulador y virtualizador de código abierto.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Amasis MT Pro" panose="02040504050005020304" pitchFamily="18" charset="0"/>
              </a:rPr>
              <a:t>🔌 Emula el </a:t>
            </a:r>
            <a:r>
              <a:rPr lang="es-ES" sz="3200" b="1" dirty="0">
                <a:latin typeface="Amasis MT Pro" panose="02040504050005020304" pitchFamily="18" charset="0"/>
              </a:rPr>
              <a:t>hardware</a:t>
            </a:r>
            <a:r>
              <a:rPr lang="es-ES" sz="3200" dirty="0">
                <a:latin typeface="Amasis MT Pro" panose="02040504050005020304" pitchFamily="18" charset="0"/>
              </a:rPr>
              <a:t> de la máquina virtual.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Amasis MT Pro" panose="02040504050005020304" pitchFamily="18" charset="0"/>
              </a:rPr>
              <a:t>💾 Discos, tarjetas de red, USB, BIOS/UEFI...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Amasis MT Pro" panose="02040504050005020304" pitchFamily="18" charset="0"/>
              </a:rPr>
              <a:t>🌐 Compatible con distintas arquitecturas y sistemas.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Amasis MT Pro" panose="02040504050005020304" pitchFamily="18" charset="0"/>
              </a:rPr>
              <a:t>🤝 Complementa a </a:t>
            </a:r>
            <a:r>
              <a:rPr lang="es-ES" sz="3200" b="1" dirty="0">
                <a:latin typeface="Amasis MT Pro" panose="02040504050005020304" pitchFamily="18" charset="0"/>
              </a:rPr>
              <a:t>KVM</a:t>
            </a:r>
            <a:r>
              <a:rPr lang="es-ES" sz="3200" dirty="0">
                <a:latin typeface="Amasis MT Pro" panose="02040504050005020304" pitchFamily="18" charset="0"/>
              </a:rPr>
              <a:t>.</a:t>
            </a:r>
            <a:endParaRPr lang="es-ES" sz="3000" b="1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13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57">
        <p14:prism isContent="1"/>
      </p:transition>
    </mc:Choice>
    <mc:Fallback xmlns="">
      <p:transition spd="slow" advTm="52057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40B2A-8021-C75E-5D01-D7FB1EFE5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85806B2-8B96-FCA6-CE26-5ED7FA61F014}"/>
              </a:ext>
            </a:extLst>
          </p:cNvPr>
          <p:cNvSpPr txBox="1">
            <a:spLocks/>
          </p:cNvSpPr>
          <p:nvPr/>
        </p:nvSpPr>
        <p:spPr>
          <a:xfrm>
            <a:off x="441158" y="0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2. El </a:t>
            </a:r>
            <a:r>
              <a:rPr lang="es-ES" sz="5000" b="1" dirty="0" err="1">
                <a:latin typeface="Amasis MT Pro Black" panose="020F0502020204030204" pitchFamily="18" charset="0"/>
              </a:rPr>
              <a:t>core</a:t>
            </a:r>
            <a:r>
              <a:rPr lang="es-ES" sz="5000" b="1" dirty="0">
                <a:latin typeface="Amasis MT Pro Black" panose="020F0502020204030204" pitchFamily="18" charset="0"/>
              </a:rPr>
              <a:t> tecnológico 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B17967-FD63-8EE4-7A51-3DB616D5D7D6}"/>
              </a:ext>
            </a:extLst>
          </p:cNvPr>
          <p:cNvSpPr txBox="1">
            <a:spLocks/>
          </p:cNvSpPr>
          <p:nvPr/>
        </p:nvSpPr>
        <p:spPr>
          <a:xfrm>
            <a:off x="1235760" y="909560"/>
            <a:ext cx="4203032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7200" b="1" dirty="0">
                <a:latin typeface="Amasis MT Pro Black" panose="020F0502020204030204" pitchFamily="18" charset="0"/>
              </a:rPr>
              <a:t>  </a:t>
            </a:r>
            <a:r>
              <a:rPr lang="es-ES" sz="4000" b="1" dirty="0">
                <a:latin typeface="Amasis MT Pro Black" panose="020F0502020204030204" pitchFamily="18" charset="0"/>
              </a:rPr>
              <a:t>2.3. Sinergia</a:t>
            </a:r>
            <a:endParaRPr lang="es-ES" sz="7200" dirty="0">
              <a:latin typeface="Amasis MT Pro Black" panose="020F05020202040302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5553C4-88E9-9C1B-41FF-97FC9FC866A3}"/>
              </a:ext>
            </a:extLst>
          </p:cNvPr>
          <p:cNvSpPr txBox="1"/>
          <p:nvPr/>
        </p:nvSpPr>
        <p:spPr>
          <a:xfrm>
            <a:off x="697175" y="2509149"/>
            <a:ext cx="10797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masis MT Pro" panose="02040504050005020304" pitchFamily="18" charset="0"/>
              </a:rPr>
              <a:t>Ciclo de Trabajo Eficiente: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masis MT Pro" panose="02040504050005020304" pitchFamily="18" charset="0"/>
              </a:rPr>
              <a:t>KVM (casi 100%): </a:t>
            </a:r>
            <a:r>
              <a:rPr lang="es-ES" sz="3600" dirty="0">
                <a:latin typeface="Amasis MT Pro" panose="02040504050005020304" pitchFamily="18" charset="0"/>
              </a:rPr>
              <a:t>se encarga del procesamiento pasado (cálculo y RAM).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masis MT Pro" panose="02040504050005020304" pitchFamily="18" charset="0"/>
              </a:rPr>
              <a:t>QEMU (gestión): </a:t>
            </a:r>
            <a:r>
              <a:rPr lang="es-ES" sz="3600" dirty="0">
                <a:latin typeface="Amasis MT Pro" panose="02040504050005020304" pitchFamily="18" charset="0"/>
              </a:rPr>
              <a:t>solo peticiones de E/S.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F2C30AF-4A69-D0D5-0FAE-3C6FB2B8C715}"/>
              </a:ext>
            </a:extLst>
          </p:cNvPr>
          <p:cNvSpPr txBox="1"/>
          <p:nvPr/>
        </p:nvSpPr>
        <p:spPr>
          <a:xfrm>
            <a:off x="0" y="565605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i="1" dirty="0">
                <a:solidFill>
                  <a:srgbClr val="FF0000"/>
                </a:solidFill>
                <a:latin typeface="Amasis MT Pro" panose="02040504050005020304" pitchFamily="18" charset="0"/>
              </a:rPr>
              <a:t>KVM acelera el hardware, QEMU emula los componentes</a:t>
            </a:r>
          </a:p>
        </p:txBody>
      </p:sp>
    </p:spTree>
    <p:extLst>
      <p:ext uri="{BB962C8B-B14F-4D97-AF65-F5344CB8AC3E}">
        <p14:creationId xmlns:p14="http://schemas.microsoft.com/office/powerpoint/2010/main" val="124202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66">
        <p14:prism isContent="1"/>
      </p:transition>
    </mc:Choice>
    <mc:Fallback xmlns="">
      <p:transition spd="slow" advTm="46766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EF72C-EC0F-F56B-E55F-79B27D52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2FA3676-B2A4-359A-2D1C-33D843F63AD1}"/>
              </a:ext>
            </a:extLst>
          </p:cNvPr>
          <p:cNvSpPr txBox="1">
            <a:spLocks/>
          </p:cNvSpPr>
          <p:nvPr/>
        </p:nvSpPr>
        <p:spPr>
          <a:xfrm>
            <a:off x="441157" y="288758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3. ¿Qué es </a:t>
            </a:r>
            <a:r>
              <a:rPr lang="es-ES" sz="5000" b="1" dirty="0" err="1">
                <a:latin typeface="Amasis MT Pro Black" panose="020F0502020204030204" pitchFamily="18" charset="0"/>
              </a:rPr>
              <a:t>Libvirt</a:t>
            </a:r>
            <a:r>
              <a:rPr lang="es-ES" sz="5000" b="1" dirty="0">
                <a:latin typeface="Amasis MT Pro Black" panose="020F0502020204030204" pitchFamily="18" charset="0"/>
              </a:rPr>
              <a:t>?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5A49138-5186-3B4B-3733-565C5F746927}"/>
              </a:ext>
            </a:extLst>
          </p:cNvPr>
          <p:cNvSpPr txBox="1">
            <a:spLocks/>
          </p:cNvSpPr>
          <p:nvPr/>
        </p:nvSpPr>
        <p:spPr>
          <a:xfrm>
            <a:off x="1027974" y="5104015"/>
            <a:ext cx="10136051" cy="54423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Capa de Abstracción Universal</a:t>
            </a:r>
            <a:endParaRPr lang="es-ES" sz="3600" dirty="0">
              <a:latin typeface="Amasis MT Pro" panose="02040504050005020304" pitchFamily="18" charset="0"/>
            </a:endParaRPr>
          </a:p>
        </p:txBody>
      </p:sp>
      <p:pic>
        <p:nvPicPr>
          <p:cNvPr id="2" name="Imagen 1" descr="libvirt 9.0 Released For Latest Linux Virtualization API - Phoronix">
            <a:extLst>
              <a:ext uri="{FF2B5EF4-FFF2-40B4-BE49-F238E27FC236}">
                <a16:creationId xmlns:a16="http://schemas.microsoft.com/office/drawing/2014/main" id="{5A8B2FE6-356A-673A-B553-AD8BDA716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67558" y="1813741"/>
            <a:ext cx="8256881" cy="289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8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04">
        <p14:prism isContent="1"/>
      </p:transition>
    </mc:Choice>
    <mc:Fallback xmlns="">
      <p:transition spd="slow" advTm="3840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B4A1B-2ADA-7D69-6EFD-8B59D329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89203F8-4672-F85D-D133-A83A3A13F563}"/>
              </a:ext>
            </a:extLst>
          </p:cNvPr>
          <p:cNvSpPr txBox="1">
            <a:spLocks/>
          </p:cNvSpPr>
          <p:nvPr/>
        </p:nvSpPr>
        <p:spPr>
          <a:xfrm>
            <a:off x="441158" y="-44021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3.1. Arquitectura de </a:t>
            </a:r>
            <a:r>
              <a:rPr lang="es-ES" sz="5000" b="1" dirty="0" err="1">
                <a:latin typeface="Amasis MT Pro Black" panose="020F0502020204030204" pitchFamily="18" charset="0"/>
              </a:rPr>
              <a:t>Libvirt</a:t>
            </a:r>
            <a:r>
              <a:rPr lang="es-ES" sz="5000" b="1" dirty="0">
                <a:latin typeface="Amasis MT Pro Black" panose="020F0502020204030204" pitchFamily="18" charset="0"/>
              </a:rPr>
              <a:t>.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AAE4C34-9F7C-0964-6E7A-016BB097989E}"/>
              </a:ext>
            </a:extLst>
          </p:cNvPr>
          <p:cNvSpPr txBox="1">
            <a:spLocks/>
          </p:cNvSpPr>
          <p:nvPr/>
        </p:nvSpPr>
        <p:spPr>
          <a:xfrm>
            <a:off x="209827" y="3592730"/>
            <a:ext cx="4362173" cy="29404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3600" dirty="0">
              <a:latin typeface="Amasis MT Pro" panose="02040504050005020304" pitchFamily="18" charset="0"/>
            </a:endParaRPr>
          </a:p>
        </p:txBody>
      </p:sp>
      <p:pic>
        <p:nvPicPr>
          <p:cNvPr id="9" name="Imagen 8" descr="engranaje, logotipo, plantilla, vector, icono, ilustración, diseño ...">
            <a:extLst>
              <a:ext uri="{FF2B5EF4-FFF2-40B4-BE49-F238E27FC236}">
                <a16:creationId xmlns:a16="http://schemas.microsoft.com/office/drawing/2014/main" id="{6D8871AF-620A-C7B1-475B-5590354081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94" t="10877" r="19716" b="13497"/>
          <a:stretch>
            <a:fillRect/>
          </a:stretch>
        </p:blipFill>
        <p:spPr>
          <a:xfrm>
            <a:off x="1657946" y="1326319"/>
            <a:ext cx="857614" cy="97840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27B9EA5-CB62-2AA3-153A-AF6E3DC737BC}"/>
              </a:ext>
            </a:extLst>
          </p:cNvPr>
          <p:cNvSpPr txBox="1"/>
          <p:nvPr/>
        </p:nvSpPr>
        <p:spPr>
          <a:xfrm>
            <a:off x="209827" y="2407924"/>
            <a:ext cx="3753852" cy="4166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000" b="1" dirty="0">
                <a:latin typeface="Amasis MT Pro" panose="02040504050005020304" pitchFamily="18" charset="0"/>
              </a:rPr>
              <a:t>API</a:t>
            </a:r>
          </a:p>
          <a:p>
            <a:pPr algn="ctr">
              <a:lnSpc>
                <a:spcPct val="150000"/>
              </a:lnSpc>
            </a:pPr>
            <a:r>
              <a:rPr lang="es-ES" sz="3000" dirty="0">
                <a:latin typeface="Amasis MT Pro" panose="02040504050005020304" pitchFamily="18" charset="0"/>
              </a:rPr>
              <a:t>Biblioteca para desarrolladores. Funciones para crear, migrar o destruir dominios.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3864B-FE36-E8ED-3567-E5E1C00535F1}"/>
              </a:ext>
            </a:extLst>
          </p:cNvPr>
          <p:cNvSpPr txBox="1"/>
          <p:nvPr/>
        </p:nvSpPr>
        <p:spPr>
          <a:xfrm>
            <a:off x="4267838" y="2407924"/>
            <a:ext cx="3656323" cy="3473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000" b="1" dirty="0">
                <a:latin typeface="Amasis MT Pro" panose="02040504050005020304" pitchFamily="18" charset="0"/>
              </a:rPr>
              <a:t>Demonio</a:t>
            </a:r>
          </a:p>
          <a:p>
            <a:pPr algn="ctr">
              <a:lnSpc>
                <a:spcPct val="150000"/>
              </a:lnSpc>
            </a:pPr>
            <a:r>
              <a:rPr lang="es-ES" sz="3000" dirty="0" err="1">
                <a:latin typeface="Amasis MT Pro" panose="02040504050005020304" pitchFamily="18" charset="0"/>
              </a:rPr>
              <a:t>Libvirt</a:t>
            </a:r>
            <a:r>
              <a:rPr lang="es-ES" sz="3000" dirty="0">
                <a:latin typeface="Amasis MT Pro" panose="02040504050005020304" pitchFamily="18" charset="0"/>
              </a:rPr>
              <a:t>: el motor que corre en segundo plano y recibe las peticiones.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0F17863-DCBE-784E-6AC6-8FF9BC15E5CD}"/>
              </a:ext>
            </a:extLst>
          </p:cNvPr>
          <p:cNvSpPr txBox="1"/>
          <p:nvPr/>
        </p:nvSpPr>
        <p:spPr>
          <a:xfrm>
            <a:off x="8228319" y="2504587"/>
            <a:ext cx="3620278" cy="278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000" b="1" dirty="0">
                <a:latin typeface="Amasis MT Pro" panose="02040504050005020304" pitchFamily="18" charset="0"/>
              </a:rPr>
              <a:t>Clientes</a:t>
            </a:r>
          </a:p>
          <a:p>
            <a:pPr algn="ctr">
              <a:lnSpc>
                <a:spcPct val="150000"/>
              </a:lnSpc>
            </a:pPr>
            <a:r>
              <a:rPr lang="es-ES" sz="3000" dirty="0">
                <a:latin typeface="Amasis MT Pro" panose="02040504050005020304" pitchFamily="18" charset="0"/>
              </a:rPr>
              <a:t>Herramientas como </a:t>
            </a:r>
            <a:r>
              <a:rPr lang="es-ES" sz="3000" dirty="0" err="1">
                <a:latin typeface="Amasis MT Pro" panose="02040504050005020304" pitchFamily="18" charset="0"/>
              </a:rPr>
              <a:t>virsh</a:t>
            </a:r>
            <a:r>
              <a:rPr lang="es-ES" sz="3000" dirty="0">
                <a:latin typeface="Amasis MT Pro" panose="02040504050005020304" pitchFamily="18" charset="0"/>
              </a:rPr>
              <a:t> (CLI) y </a:t>
            </a:r>
            <a:r>
              <a:rPr lang="es-ES" sz="3000" dirty="0" err="1">
                <a:latin typeface="Amasis MT Pro" panose="02040504050005020304" pitchFamily="18" charset="0"/>
              </a:rPr>
              <a:t>virt</a:t>
            </a:r>
            <a:r>
              <a:rPr lang="es-ES" sz="3000" dirty="0">
                <a:latin typeface="Amasis MT Pro" panose="02040504050005020304" pitchFamily="18" charset="0"/>
              </a:rPr>
              <a:t>-manager (GUI).</a:t>
            </a:r>
          </a:p>
        </p:txBody>
      </p:sp>
      <p:pic>
        <p:nvPicPr>
          <p:cNvPr id="16" name="Imagen 15" descr="Diseño De Logotipo De Ilustración De Vector De Icono Fantasma PNG , En ...">
            <a:extLst>
              <a:ext uri="{FF2B5EF4-FFF2-40B4-BE49-F238E27FC236}">
                <a16:creationId xmlns:a16="http://schemas.microsoft.com/office/drawing/2014/main" id="{1570BA08-D9DD-5649-1E1C-FE720C364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105" y="612376"/>
            <a:ext cx="2585788" cy="2585788"/>
          </a:xfrm>
          <a:prstGeom prst="rect">
            <a:avLst/>
          </a:prstGeom>
        </p:spPr>
      </p:pic>
      <p:pic>
        <p:nvPicPr>
          <p:cNvPr id="17" name="Imagen 16" descr="Computer Pc Icon Logo Design Vector Template Illustration Sign And ...">
            <a:extLst>
              <a:ext uri="{FF2B5EF4-FFF2-40B4-BE49-F238E27FC236}">
                <a16:creationId xmlns:a16="http://schemas.microsoft.com/office/drawing/2014/main" id="{C8CC4412-EEA6-F7AD-5F7C-2BD853DE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64635" y="1161783"/>
            <a:ext cx="1267968" cy="126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1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897">
        <p14:prism isContent="1"/>
      </p:transition>
    </mc:Choice>
    <mc:Fallback xmlns="">
      <p:transition spd="slow" advTm="42897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5D58B-28D1-1861-5AD6-2A478FF4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CFAD71B-6FE1-452C-35DD-CF3F047B226D}"/>
              </a:ext>
            </a:extLst>
          </p:cNvPr>
          <p:cNvSpPr txBox="1">
            <a:spLocks/>
          </p:cNvSpPr>
          <p:nvPr/>
        </p:nvSpPr>
        <p:spPr>
          <a:xfrm>
            <a:off x="441158" y="-44021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4. Arquitectura de Drivers.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839E9E8-1951-FE3C-DDDB-FD798891F695}"/>
              </a:ext>
            </a:extLst>
          </p:cNvPr>
          <p:cNvSpPr txBox="1">
            <a:spLocks/>
          </p:cNvSpPr>
          <p:nvPr/>
        </p:nvSpPr>
        <p:spPr>
          <a:xfrm>
            <a:off x="209827" y="3592730"/>
            <a:ext cx="4362173" cy="29404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3600" dirty="0">
              <a:latin typeface="Amasis MT Pro" panose="02040504050005020304" pitchFamily="18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B77ECFA-BD58-A49A-BD71-0CE58A8938E9}"/>
              </a:ext>
            </a:extLst>
          </p:cNvPr>
          <p:cNvSpPr txBox="1">
            <a:spLocks/>
          </p:cNvSpPr>
          <p:nvPr/>
        </p:nvSpPr>
        <p:spPr>
          <a:xfrm>
            <a:off x="441158" y="830274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  4.1 Abstracción Drivers.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9FDEB93-3F9B-490D-5197-5C60329A27B6}"/>
              </a:ext>
            </a:extLst>
          </p:cNvPr>
          <p:cNvSpPr txBox="1">
            <a:spLocks/>
          </p:cNvSpPr>
          <p:nvPr/>
        </p:nvSpPr>
        <p:spPr>
          <a:xfrm>
            <a:off x="2727796" y="2013967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Hipervisores:</a:t>
            </a:r>
            <a:endParaRPr lang="es-ES" sz="3600" dirty="0">
              <a:latin typeface="Amasis MT Pro" panose="020405040500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A8228AF-641D-6DB0-4340-0ED63E6EFAF3}"/>
              </a:ext>
            </a:extLst>
          </p:cNvPr>
          <p:cNvSpPr txBox="1">
            <a:spLocks/>
          </p:cNvSpPr>
          <p:nvPr/>
        </p:nvSpPr>
        <p:spPr>
          <a:xfrm>
            <a:off x="6095999" y="5659951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Privativos/Comerciales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735BF37-F745-3EF6-E235-CB31A84803D8}"/>
              </a:ext>
            </a:extLst>
          </p:cNvPr>
          <p:cNvSpPr txBox="1">
            <a:spLocks/>
          </p:cNvSpPr>
          <p:nvPr/>
        </p:nvSpPr>
        <p:spPr>
          <a:xfrm>
            <a:off x="17320" y="5657397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Código abierto</a:t>
            </a:r>
            <a:endParaRPr lang="es-ES" sz="3600" dirty="0">
              <a:latin typeface="Amasis MT Pro" panose="02040504050005020304" pitchFamily="18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55EED6D-4664-9DE9-1D1C-9E85B8314CEF}"/>
              </a:ext>
            </a:extLst>
          </p:cNvPr>
          <p:cNvCxnSpPr>
            <a:cxnSpLocks/>
          </p:cNvCxnSpPr>
          <p:nvPr/>
        </p:nvCxnSpPr>
        <p:spPr>
          <a:xfrm>
            <a:off x="5767136" y="2776985"/>
            <a:ext cx="0" cy="3621068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Imagen 23" descr="Xen Virtualization Logo Virtual Machine Hypervisor, PNG, 1000x520px ...">
            <a:extLst>
              <a:ext uri="{FF2B5EF4-FFF2-40B4-BE49-F238E27FC236}">
                <a16:creationId xmlns:a16="http://schemas.microsoft.com/office/drawing/2014/main" id="{1A33D8FF-8254-26AB-8F04-B2E8C00CD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1368" y="2719401"/>
            <a:ext cx="2930692" cy="1522530"/>
          </a:xfrm>
          <a:prstGeom prst="rect">
            <a:avLst/>
          </a:prstGeom>
        </p:spPr>
      </p:pic>
      <p:pic>
        <p:nvPicPr>
          <p:cNvPr id="25" name="Imagen 24" descr="BSD Hypervisor">
            <a:extLst>
              <a:ext uri="{FF2B5EF4-FFF2-40B4-BE49-F238E27FC236}">
                <a16:creationId xmlns:a16="http://schemas.microsoft.com/office/drawing/2014/main" id="{3E4F3C65-8DC9-7C1B-D3F8-1BE9D5852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328313" y="3570369"/>
            <a:ext cx="2014684" cy="2014684"/>
          </a:xfrm>
          <a:prstGeom prst="rect">
            <a:avLst/>
          </a:prstGeom>
        </p:spPr>
      </p:pic>
      <p:pic>
        <p:nvPicPr>
          <p:cNvPr id="26" name="Imagen 25" descr="VMware ESXi 7. Create VMware ESXi 7 Hypervisor | by Btech Engineering ...">
            <a:extLst>
              <a:ext uri="{FF2B5EF4-FFF2-40B4-BE49-F238E27FC236}">
                <a16:creationId xmlns:a16="http://schemas.microsoft.com/office/drawing/2014/main" id="{AA391317-4E8E-DAB1-1199-6D2002D16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436" y="2953872"/>
            <a:ext cx="3239505" cy="950255"/>
          </a:xfrm>
          <a:prstGeom prst="rect">
            <a:avLst/>
          </a:prstGeom>
        </p:spPr>
      </p:pic>
      <p:pic>
        <p:nvPicPr>
          <p:cNvPr id="28" name="Imagen 27" descr="Hyper-V Server Logo - LogoDix">
            <a:extLst>
              <a:ext uri="{FF2B5EF4-FFF2-40B4-BE49-F238E27FC236}">
                <a16:creationId xmlns:a16="http://schemas.microsoft.com/office/drawing/2014/main" id="{C6E77C01-38C9-C415-CEEF-9BA0FF3740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6026" y="3239637"/>
            <a:ext cx="2676147" cy="267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7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04">
        <p14:prism isContent="1"/>
      </p:transition>
    </mc:Choice>
    <mc:Fallback xmlns="">
      <p:transition spd="slow" advTm="2930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527FC-412F-73BC-F590-2A9F5580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3913367-B821-A4D7-209C-8BEA6A2F4E65}"/>
              </a:ext>
            </a:extLst>
          </p:cNvPr>
          <p:cNvSpPr txBox="1">
            <a:spLocks/>
          </p:cNvSpPr>
          <p:nvPr/>
        </p:nvSpPr>
        <p:spPr>
          <a:xfrm>
            <a:off x="441158" y="-44021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4. Arquitectura de Drivers.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19F84BF-0DDD-73EB-3EF2-60BE50472025}"/>
              </a:ext>
            </a:extLst>
          </p:cNvPr>
          <p:cNvSpPr txBox="1">
            <a:spLocks/>
          </p:cNvSpPr>
          <p:nvPr/>
        </p:nvSpPr>
        <p:spPr>
          <a:xfrm>
            <a:off x="441158" y="830274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  4.1 Abstracción Drivers.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8A82F09-69E2-A31E-9320-10B27A1F0F14}"/>
              </a:ext>
            </a:extLst>
          </p:cNvPr>
          <p:cNvSpPr txBox="1">
            <a:spLocks/>
          </p:cNvSpPr>
          <p:nvPr/>
        </p:nvSpPr>
        <p:spPr>
          <a:xfrm>
            <a:off x="6113321" y="5696201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Contenedores de Sistema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6AE77C8-8946-83FD-838C-338375C63209}"/>
              </a:ext>
            </a:extLst>
          </p:cNvPr>
          <p:cNvSpPr txBox="1">
            <a:spLocks/>
          </p:cNvSpPr>
          <p:nvPr/>
        </p:nvSpPr>
        <p:spPr>
          <a:xfrm>
            <a:off x="17320" y="5657397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Soluciones Escritorio</a:t>
            </a:r>
            <a:endParaRPr lang="es-ES" sz="3600" dirty="0">
              <a:latin typeface="Amasis MT Pro" panose="02040504050005020304" pitchFamily="18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60EC05D-FE90-9C01-F07D-B86736D27589}"/>
              </a:ext>
            </a:extLst>
          </p:cNvPr>
          <p:cNvCxnSpPr>
            <a:cxnSpLocks/>
          </p:cNvCxnSpPr>
          <p:nvPr/>
        </p:nvCxnSpPr>
        <p:spPr>
          <a:xfrm>
            <a:off x="5767136" y="2068720"/>
            <a:ext cx="0" cy="4329333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Vbox Logo Complete Guide To Install VirtualBox On Debian Linux">
            <a:extLst>
              <a:ext uri="{FF2B5EF4-FFF2-40B4-BE49-F238E27FC236}">
                <a16:creationId xmlns:a16="http://schemas.microsoft.com/office/drawing/2014/main" id="{3560AEBB-65D5-D3DB-082E-777D7E935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0" y="605889"/>
            <a:ext cx="4383001" cy="4383001"/>
          </a:xfrm>
          <a:prstGeom prst="rect">
            <a:avLst/>
          </a:prstGeom>
        </p:spPr>
      </p:pic>
      <p:pic>
        <p:nvPicPr>
          <p:cNvPr id="6" name="Imagen 5" descr="Vmware Workstation Logo Png - Free Transparent PNG Clipart Images Download">
            <a:extLst>
              <a:ext uri="{FF2B5EF4-FFF2-40B4-BE49-F238E27FC236}">
                <a16:creationId xmlns:a16="http://schemas.microsoft.com/office/drawing/2014/main" id="{14903350-49D4-F59E-62CF-BF58001DD5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18" t="2055" r="-7218" b="2088"/>
          <a:stretch>
            <a:fillRect/>
          </a:stretch>
        </p:blipFill>
        <p:spPr>
          <a:xfrm>
            <a:off x="2578691" y="3490337"/>
            <a:ext cx="3765404" cy="20238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3FEF2EB-5801-6864-3076-8D3A9D731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2068720"/>
            <a:ext cx="4383004" cy="236007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0AE9CF1-01B3-DEA8-AF7D-738D63693A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1053" y="4233386"/>
            <a:ext cx="4463214" cy="113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1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65">
        <p14:prism isContent="1"/>
      </p:transition>
    </mc:Choice>
    <mc:Fallback xmlns="">
      <p:transition spd="slow" advTm="18765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C3C48-0240-B645-F6FF-A056CDB0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36AC23D-E3EC-277A-CE93-8FBC3A5AC411}"/>
              </a:ext>
            </a:extLst>
          </p:cNvPr>
          <p:cNvSpPr txBox="1">
            <a:spLocks/>
          </p:cNvSpPr>
          <p:nvPr/>
        </p:nvSpPr>
        <p:spPr>
          <a:xfrm>
            <a:off x="458479" y="0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000" b="1" dirty="0">
                <a:latin typeface="Amasis MT Pro Black" panose="020F0502020204030204" pitchFamily="18" charset="0"/>
              </a:rPr>
              <a:t>    4.2. Evolución y Versiones</a:t>
            </a:r>
            <a:endParaRPr lang="es-ES" sz="5000" dirty="0">
              <a:latin typeface="Amasis MT Pro Black" panose="020F0502020204030204" pitchFamily="18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E9C475D-7526-DBDE-7195-A74CE0ED8945}"/>
              </a:ext>
            </a:extLst>
          </p:cNvPr>
          <p:cNvSpPr txBox="1">
            <a:spLocks/>
          </p:cNvSpPr>
          <p:nvPr/>
        </p:nvSpPr>
        <p:spPr>
          <a:xfrm>
            <a:off x="0" y="1494471"/>
            <a:ext cx="12192000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Compatibilidad hacia atrás</a:t>
            </a:r>
            <a:endParaRPr lang="es-ES" sz="3600" dirty="0">
              <a:latin typeface="Amasis MT Pro" panose="02040504050005020304" pitchFamily="18" charset="0"/>
            </a:endParaRPr>
          </a:p>
        </p:txBody>
      </p:sp>
      <p:pic>
        <p:nvPicPr>
          <p:cNvPr id="3" name="Imagen 2" descr="Modern flat design of XML file icon for web 22208598 Vector Art at Vecteezy">
            <a:extLst>
              <a:ext uri="{FF2B5EF4-FFF2-40B4-BE49-F238E27FC236}">
                <a16:creationId xmlns:a16="http://schemas.microsoft.com/office/drawing/2014/main" id="{FB5FF62B-8681-DE3D-FD54-37C3DB66F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30191" y="2506449"/>
            <a:ext cx="3185360" cy="3185360"/>
          </a:xfrm>
          <a:prstGeom prst="rect">
            <a:avLst/>
          </a:prstGeom>
        </p:spPr>
      </p:pic>
      <p:pic>
        <p:nvPicPr>
          <p:cNvPr id="7" name="Imagen 6" descr="Icono de api en estilo plano ilustración de vector de integración de ...">
            <a:extLst>
              <a:ext uri="{FF2B5EF4-FFF2-40B4-BE49-F238E27FC236}">
                <a16:creationId xmlns:a16="http://schemas.microsoft.com/office/drawing/2014/main" id="{B5261564-7570-14ED-2AF0-5F007DA67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0035" y="1864799"/>
            <a:ext cx="4468660" cy="446866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EE751F08-5087-1198-A160-9113B9198BF5}"/>
              </a:ext>
            </a:extLst>
          </p:cNvPr>
          <p:cNvSpPr txBox="1">
            <a:spLocks/>
          </p:cNvSpPr>
          <p:nvPr/>
        </p:nvSpPr>
        <p:spPr>
          <a:xfrm>
            <a:off x="17320" y="5657397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API y scripts</a:t>
            </a:r>
            <a:endParaRPr lang="es-ES" sz="3600" dirty="0">
              <a:latin typeface="Amasis MT Pro" panose="02040504050005020304" pitchFamily="18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07AC414-C47F-1439-7303-9E7AD7EA9D26}"/>
              </a:ext>
            </a:extLst>
          </p:cNvPr>
          <p:cNvSpPr txBox="1">
            <a:spLocks/>
          </p:cNvSpPr>
          <p:nvPr/>
        </p:nvSpPr>
        <p:spPr>
          <a:xfrm>
            <a:off x="6095999" y="5592802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Dominios (XML)</a:t>
            </a:r>
            <a:endParaRPr lang="es-ES" sz="36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9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01">
        <p14:prism isContent="1"/>
      </p:transition>
    </mc:Choice>
    <mc:Fallback xmlns="">
      <p:transition spd="slow" advTm="4480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646CA-7379-ACBE-4823-69D3D087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B39FA0D-3D9E-E25D-247C-2B0474CDEB8B}"/>
              </a:ext>
            </a:extLst>
          </p:cNvPr>
          <p:cNvSpPr txBox="1">
            <a:spLocks/>
          </p:cNvSpPr>
          <p:nvPr/>
        </p:nvSpPr>
        <p:spPr>
          <a:xfrm>
            <a:off x="441158" y="0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400" b="1" dirty="0">
                <a:latin typeface="Amasis MT Pro Black" panose="020F0502020204030204" pitchFamily="18" charset="0"/>
              </a:rPr>
              <a:t> 5. VIRSH</a:t>
            </a:r>
            <a:endParaRPr lang="es-ES" sz="5400" dirty="0">
              <a:latin typeface="Amasis MT Pro Black" panose="020F0502020204030204" pitchFamily="18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831BDFC-AA08-2516-12A8-4FBB7FAE0BCE}"/>
              </a:ext>
            </a:extLst>
          </p:cNvPr>
          <p:cNvSpPr txBox="1">
            <a:spLocks/>
          </p:cNvSpPr>
          <p:nvPr/>
        </p:nvSpPr>
        <p:spPr>
          <a:xfrm>
            <a:off x="0" y="5740887"/>
            <a:ext cx="12192000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latin typeface="Amasis MT Pro" panose="02040504050005020304" pitchFamily="18" charset="0"/>
              </a:rPr>
              <a:t>La interfaz de línea de comandos (CLI) definitiva</a:t>
            </a:r>
            <a:endParaRPr lang="es-ES" sz="3600" dirty="0">
              <a:latin typeface="Amasis MT Pro" panose="02040504050005020304" pitchFamily="18" charset="0"/>
            </a:endParaRPr>
          </a:p>
        </p:txBody>
      </p:sp>
      <p:pic>
        <p:nvPicPr>
          <p:cNvPr id="5" name="Imagen 4" descr="掌握virsh命令，轻松管理你的虚拟机！ - 知乎">
            <a:extLst>
              <a:ext uri="{FF2B5EF4-FFF2-40B4-BE49-F238E27FC236}">
                <a16:creationId xmlns:a16="http://schemas.microsoft.com/office/drawing/2014/main" id="{611DA845-E9F8-284B-51D1-7D7D60DB8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172" y="1278846"/>
            <a:ext cx="7557656" cy="43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8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658">
        <p14:prism isContent="1"/>
      </p:transition>
    </mc:Choice>
    <mc:Fallback xmlns="">
      <p:transition spd="slow" advTm="35658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F3274-085F-97AE-AE41-A0A595C7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E45628-EDD6-E3F7-346F-F3FB682012B5}"/>
              </a:ext>
            </a:extLst>
          </p:cNvPr>
          <p:cNvSpPr txBox="1">
            <a:spLocks/>
          </p:cNvSpPr>
          <p:nvPr/>
        </p:nvSpPr>
        <p:spPr>
          <a:xfrm>
            <a:off x="441158" y="0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400" b="1" dirty="0">
                <a:latin typeface="Amasis MT Pro Black" panose="020F0502020204030204" pitchFamily="18" charset="0"/>
              </a:rPr>
              <a:t> 5.1 Capacidades de Gestión</a:t>
            </a:r>
            <a:endParaRPr lang="es-ES" sz="5400" dirty="0">
              <a:latin typeface="Amasis MT Pro Black" panose="020F0502020204030204" pitchFamily="18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2EBA77F-23A4-A422-B41A-44B7FEE3DEE5}"/>
              </a:ext>
            </a:extLst>
          </p:cNvPr>
          <p:cNvSpPr txBox="1">
            <a:spLocks/>
          </p:cNvSpPr>
          <p:nvPr/>
        </p:nvSpPr>
        <p:spPr>
          <a:xfrm>
            <a:off x="0" y="1130968"/>
            <a:ext cx="12192000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4400" b="1" dirty="0">
                <a:latin typeface="Amasis MT Pro" panose="02040504050005020304" pitchFamily="18" charset="0"/>
              </a:rPr>
              <a:t>        5.1.1. Gestión de ciclo de vida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FD9E3738-73EE-CF18-585B-831F70C1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527001"/>
              </p:ext>
            </p:extLst>
          </p:nvPr>
        </p:nvGraphicFramePr>
        <p:xfrm>
          <a:off x="1058779" y="2261936"/>
          <a:ext cx="1039528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738">
                  <a:extLst>
                    <a:ext uri="{9D8B030D-6E8A-4147-A177-3AD203B41FA5}">
                      <a16:colId xmlns:a16="http://schemas.microsoft.com/office/drawing/2014/main" val="3555882154"/>
                    </a:ext>
                  </a:extLst>
                </a:gridCol>
                <a:gridCol w="6805546">
                  <a:extLst>
                    <a:ext uri="{9D8B030D-6E8A-4147-A177-3AD203B41FA5}">
                      <a16:colId xmlns:a16="http://schemas.microsoft.com/office/drawing/2014/main" val="160541683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" sz="3600" dirty="0">
                          <a:latin typeface="Amasis MT Pro" panose="02040504050005020304" pitchFamily="18" charset="0"/>
                        </a:rPr>
                        <a:t>Comandos más importantes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26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3600" b="1" dirty="0" err="1">
                          <a:latin typeface="Amasis MT Pro" panose="02040504050005020304" pitchFamily="18" charset="0"/>
                        </a:rPr>
                        <a:t>virsh</a:t>
                      </a:r>
                      <a:r>
                        <a:rPr lang="es-ES" sz="3600" b="1" dirty="0">
                          <a:latin typeface="Amasis MT Pro" panose="02040504050005020304" pitchFamily="18" charset="0"/>
                        </a:rPr>
                        <a:t> define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600" b="0" i="0" kern="1200" dirty="0">
                          <a:solidFill>
                            <a:schemeClr val="dk1"/>
                          </a:solidFill>
                          <a:effectLst/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Registra un dominio desde XML</a:t>
                      </a:r>
                      <a:endParaRPr lang="es-ES" sz="36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25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3600" b="1" dirty="0" err="1">
                          <a:latin typeface="Amasis MT Pro" panose="02040504050005020304" pitchFamily="18" charset="0"/>
                        </a:rPr>
                        <a:t>virsh</a:t>
                      </a:r>
                      <a:r>
                        <a:rPr lang="es-ES" sz="3600" b="1" dirty="0">
                          <a:latin typeface="Amasis MT Pro" panose="02040504050005020304" pitchFamily="18" charset="0"/>
                        </a:rPr>
                        <a:t> </a:t>
                      </a:r>
                      <a:r>
                        <a:rPr lang="es-ES" sz="3600" b="1" dirty="0" err="1">
                          <a:latin typeface="Amasis MT Pro" panose="02040504050005020304" pitchFamily="18" charset="0"/>
                        </a:rPr>
                        <a:t>start</a:t>
                      </a:r>
                      <a:endParaRPr lang="es-ES" sz="3600" b="1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600" b="0" i="0" kern="1200" dirty="0">
                          <a:solidFill>
                            <a:schemeClr val="dk1"/>
                          </a:solidFill>
                          <a:effectLst/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Inicia la ejecución del dominio</a:t>
                      </a:r>
                      <a:endParaRPr lang="es-ES" sz="36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03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3600" b="1" dirty="0" err="1">
                          <a:latin typeface="Amasis MT Pro" panose="02040504050005020304" pitchFamily="18" charset="0"/>
                        </a:rPr>
                        <a:t>virsh</a:t>
                      </a:r>
                      <a:r>
                        <a:rPr lang="es-ES" sz="3600" b="1" dirty="0">
                          <a:latin typeface="Amasis MT Pro" panose="02040504050005020304" pitchFamily="18" charset="0"/>
                        </a:rPr>
                        <a:t> shutdown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600" b="0" i="0" kern="1200" dirty="0">
                          <a:solidFill>
                            <a:schemeClr val="dk1"/>
                          </a:solidFill>
                          <a:effectLst/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Apagado seguro mediante ACPI</a:t>
                      </a:r>
                      <a:endParaRPr lang="es-ES" sz="36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3600" b="1" dirty="0" err="1">
                          <a:latin typeface="Amasis MT Pro" panose="02040504050005020304" pitchFamily="18" charset="0"/>
                        </a:rPr>
                        <a:t>virsh</a:t>
                      </a:r>
                      <a:r>
                        <a:rPr lang="es-ES" sz="3600" b="1" dirty="0">
                          <a:latin typeface="Amasis MT Pro" panose="02040504050005020304" pitchFamily="18" charset="0"/>
                        </a:rPr>
                        <a:t> </a:t>
                      </a:r>
                      <a:r>
                        <a:rPr lang="es-ES" sz="3600" b="1" dirty="0" err="1">
                          <a:latin typeface="Amasis MT Pro" panose="02040504050005020304" pitchFamily="18" charset="0"/>
                        </a:rPr>
                        <a:t>destroy</a:t>
                      </a:r>
                      <a:endParaRPr lang="es-ES" sz="3600" b="1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600" b="0" i="0" kern="1200" dirty="0">
                          <a:solidFill>
                            <a:schemeClr val="dk1"/>
                          </a:solidFill>
                          <a:effectLst/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Apagado forzoso (como tirar del cable)</a:t>
                      </a:r>
                      <a:endParaRPr lang="es-ES" sz="36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212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6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75">
        <p14:prism isContent="1"/>
      </p:transition>
    </mc:Choice>
    <mc:Fallback xmlns="">
      <p:transition spd="slow" advTm="43075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925B1-0239-4DE4-BF9A-518A5643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D545ECB-455E-02AC-E312-E81294BB6CCD}"/>
              </a:ext>
            </a:extLst>
          </p:cNvPr>
          <p:cNvSpPr txBox="1">
            <a:spLocks/>
          </p:cNvSpPr>
          <p:nvPr/>
        </p:nvSpPr>
        <p:spPr>
          <a:xfrm>
            <a:off x="441158" y="0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400" b="1" dirty="0">
                <a:latin typeface="Amasis MT Pro Black" panose="020F0502020204030204" pitchFamily="18" charset="0"/>
              </a:rPr>
              <a:t> 5.1 Capacidades de Gestión</a:t>
            </a:r>
            <a:endParaRPr lang="es-ES" sz="5400" dirty="0">
              <a:latin typeface="Amasis MT Pro Black" panose="020F0502020204030204" pitchFamily="18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83C97E6C-25E0-0BC5-E6CA-0AF86C0C0246}"/>
              </a:ext>
            </a:extLst>
          </p:cNvPr>
          <p:cNvSpPr txBox="1">
            <a:spLocks/>
          </p:cNvSpPr>
          <p:nvPr/>
        </p:nvSpPr>
        <p:spPr>
          <a:xfrm>
            <a:off x="0" y="1130968"/>
            <a:ext cx="12192000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4400" b="1" dirty="0">
                <a:latin typeface="Amasis MT Pro" panose="02040504050005020304" pitchFamily="18" charset="0"/>
              </a:rPr>
              <a:t>        5.1.2. Gestión Redes Virtuales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81C9B0-D758-65A7-719F-EBF7FB5D9B61}"/>
              </a:ext>
            </a:extLst>
          </p:cNvPr>
          <p:cNvSpPr txBox="1"/>
          <p:nvPr/>
        </p:nvSpPr>
        <p:spPr>
          <a:xfrm>
            <a:off x="690810" y="2261935"/>
            <a:ext cx="10810379" cy="368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5400" dirty="0">
                <a:latin typeface="Amasis MT Pro" panose="02040504050005020304" pitchFamily="18" charset="0"/>
              </a:rPr>
              <a:t>Red NAT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5400" dirty="0">
                <a:latin typeface="Amasis MT Pro" panose="02040504050005020304" pitchFamily="18" charset="0"/>
              </a:rPr>
              <a:t>Red Aislada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5400" dirty="0">
                <a:latin typeface="Amasis MT Pro" panose="02040504050005020304" pitchFamily="18" charset="0"/>
              </a:rPr>
              <a:t>Red Puente</a:t>
            </a:r>
            <a:endParaRPr lang="es-ES" sz="4800" dirty="0">
              <a:latin typeface="Amasis MT Pro" panose="02040504050005020304" pitchFamily="18" charset="0"/>
            </a:endParaRPr>
          </a:p>
        </p:txBody>
      </p:sp>
      <p:pic>
        <p:nvPicPr>
          <p:cNvPr id="5" name="Imagen 4" descr="Imagen vectorial del icono de virtualización de red Se puede utilizar ...">
            <a:extLst>
              <a:ext uri="{FF2B5EF4-FFF2-40B4-BE49-F238E27FC236}">
                <a16:creationId xmlns:a16="http://schemas.microsoft.com/office/drawing/2014/main" id="{F4B94D41-C34C-DDA6-FBFE-D74069EF3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64755" y="2040217"/>
            <a:ext cx="4129126" cy="41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9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05">
        <p14:prism isContent="1"/>
      </p:transition>
    </mc:Choice>
    <mc:Fallback xmlns="">
      <p:transition spd="slow" advTm="38805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53985-D715-8ABC-791D-F55C58995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4723C53-5706-02E6-6A69-5CB4582CF1A3}"/>
              </a:ext>
            </a:extLst>
          </p:cNvPr>
          <p:cNvSpPr txBox="1">
            <a:spLocks/>
          </p:cNvSpPr>
          <p:nvPr/>
        </p:nvSpPr>
        <p:spPr>
          <a:xfrm>
            <a:off x="441158" y="0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400" b="1" dirty="0">
                <a:latin typeface="Amasis MT Pro Black" panose="020F0502020204030204" pitchFamily="18" charset="0"/>
              </a:rPr>
              <a:t> 5.1 Capacidades de Gestión</a:t>
            </a:r>
            <a:endParaRPr lang="es-ES" sz="5400" dirty="0">
              <a:latin typeface="Amasis MT Pro Black" panose="020F0502020204030204" pitchFamily="18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EC169B4-5D5A-5D79-3696-24478D53D6F5}"/>
              </a:ext>
            </a:extLst>
          </p:cNvPr>
          <p:cNvSpPr txBox="1">
            <a:spLocks/>
          </p:cNvSpPr>
          <p:nvPr/>
        </p:nvSpPr>
        <p:spPr>
          <a:xfrm>
            <a:off x="0" y="1130968"/>
            <a:ext cx="12192000" cy="740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4400" b="1" dirty="0">
                <a:latin typeface="Amasis MT Pro" panose="02040504050005020304" pitchFamily="18" charset="0"/>
              </a:rPr>
              <a:t>        5.1.3. Gestión de Almacenamiento</a:t>
            </a:r>
          </a:p>
        </p:txBody>
      </p:sp>
      <p:pic>
        <p:nvPicPr>
          <p:cNvPr id="2" name="Imagen 1" descr="Storage Container Logo Container Logo Stock Illustrations – 119,490">
            <a:extLst>
              <a:ext uri="{FF2B5EF4-FFF2-40B4-BE49-F238E27FC236}">
                <a16:creationId xmlns:a16="http://schemas.microsoft.com/office/drawing/2014/main" id="{B7AF8464-EC10-D1C2-7F72-6A6CF746E9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31" t="19721" r="22603" b="19721"/>
          <a:stretch>
            <a:fillRect/>
          </a:stretch>
        </p:blipFill>
        <p:spPr>
          <a:xfrm>
            <a:off x="7841672" y="1871625"/>
            <a:ext cx="2909455" cy="3114751"/>
          </a:xfrm>
          <a:prstGeom prst="rect">
            <a:avLst/>
          </a:prstGeom>
        </p:spPr>
      </p:pic>
      <p:pic>
        <p:nvPicPr>
          <p:cNvPr id="3" name="Imagen 2" descr="StorPool Among DCIG's TOP 5 Modern SDS Block Storage Solutions">
            <a:extLst>
              <a:ext uri="{FF2B5EF4-FFF2-40B4-BE49-F238E27FC236}">
                <a16:creationId xmlns:a16="http://schemas.microsoft.com/office/drawing/2014/main" id="{B0D2FF5F-9597-E38D-3F8A-4827864BB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5470" y="2594056"/>
            <a:ext cx="5430530" cy="166988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2857018-35B8-ED77-E4E1-F198860B18A5}"/>
              </a:ext>
            </a:extLst>
          </p:cNvPr>
          <p:cNvSpPr txBox="1">
            <a:spLocks/>
          </p:cNvSpPr>
          <p:nvPr/>
        </p:nvSpPr>
        <p:spPr>
          <a:xfrm>
            <a:off x="17321" y="5507765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300" b="1" dirty="0">
                <a:latin typeface="Amasis MT Pro" panose="02040504050005020304" pitchFamily="18" charset="0"/>
              </a:rPr>
              <a:t>Storage Pools</a:t>
            </a:r>
          </a:p>
          <a:p>
            <a:r>
              <a:rPr lang="es-ES" sz="3300" b="1" dirty="0">
                <a:latin typeface="Amasis MT Pro" panose="02040504050005020304" pitchFamily="18" charset="0"/>
              </a:rPr>
              <a:t>(Grupos de almacenamiento)</a:t>
            </a:r>
            <a:endParaRPr lang="es-ES" sz="3300" dirty="0">
              <a:latin typeface="Amasis MT Pro" panose="02040504050005020304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64B19BC-6318-2DC5-C4BF-3C88422AF5C9}"/>
              </a:ext>
            </a:extLst>
          </p:cNvPr>
          <p:cNvSpPr txBox="1">
            <a:spLocks/>
          </p:cNvSpPr>
          <p:nvPr/>
        </p:nvSpPr>
        <p:spPr>
          <a:xfrm>
            <a:off x="6257059" y="5507766"/>
            <a:ext cx="6078679" cy="74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900" b="1" dirty="0">
                <a:latin typeface="Amasis MT Pro" panose="02040504050005020304" pitchFamily="18" charset="0"/>
              </a:rPr>
              <a:t>Storage </a:t>
            </a:r>
            <a:r>
              <a:rPr lang="es-ES" sz="2900" b="1" dirty="0" err="1">
                <a:latin typeface="Amasis MT Pro" panose="02040504050005020304" pitchFamily="18" charset="0"/>
              </a:rPr>
              <a:t>Volumes</a:t>
            </a:r>
            <a:endParaRPr lang="es-ES" sz="2900" b="1" dirty="0">
              <a:latin typeface="Amasis MT Pro" panose="02040504050005020304" pitchFamily="18" charset="0"/>
            </a:endParaRPr>
          </a:p>
          <a:p>
            <a:r>
              <a:rPr lang="es-ES" sz="2900" b="1" dirty="0">
                <a:latin typeface="Amasis MT Pro" panose="02040504050005020304" pitchFamily="18" charset="0"/>
              </a:rPr>
              <a:t>(Volúmenes de almacenamiento)</a:t>
            </a:r>
            <a:endParaRPr lang="es-ES" sz="29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37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046">
        <p14:prism isContent="1"/>
      </p:transition>
    </mc:Choice>
    <mc:Fallback xmlns="">
      <p:transition spd="slow" advTm="42046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5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F0C00-F2B9-148A-9776-F918818F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FDAA617-39DB-4144-8880-8B380E205F7F}"/>
              </a:ext>
            </a:extLst>
          </p:cNvPr>
          <p:cNvSpPr txBox="1">
            <a:spLocks/>
          </p:cNvSpPr>
          <p:nvPr/>
        </p:nvSpPr>
        <p:spPr>
          <a:xfrm>
            <a:off x="441158" y="192505"/>
            <a:ext cx="11309684" cy="1130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5400" b="1" dirty="0">
                <a:latin typeface="Amasis MT Pro Black" panose="020F0502020204030204" pitchFamily="18" charset="0"/>
              </a:rPr>
              <a:t> 6. Conclusión</a:t>
            </a:r>
            <a:endParaRPr lang="es-ES" sz="5400" dirty="0">
              <a:latin typeface="Amasis MT Pro Black" panose="020F0502020204030204" pitchFamily="18" charset="0"/>
            </a:endParaRPr>
          </a:p>
        </p:txBody>
      </p:sp>
      <p:pic>
        <p:nvPicPr>
          <p:cNvPr id="2" name="Imagen 1" descr="icono de línea para portabilidad 3329021 Vector en Vecteezy">
            <a:extLst>
              <a:ext uri="{FF2B5EF4-FFF2-40B4-BE49-F238E27FC236}">
                <a16:creationId xmlns:a16="http://schemas.microsoft.com/office/drawing/2014/main" id="{C245A591-0734-8148-2118-8F97A46D8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1158" y="1938081"/>
            <a:ext cx="2425382" cy="1629553"/>
          </a:xfrm>
          <a:prstGeom prst="rect">
            <a:avLst/>
          </a:prstGeom>
        </p:spPr>
      </p:pic>
      <p:pic>
        <p:nvPicPr>
          <p:cNvPr id="3" name="Imagen 2" descr="Icono de rendimiento Logotipo vectorial editable | Vector Premium">
            <a:extLst>
              <a:ext uri="{FF2B5EF4-FFF2-40B4-BE49-F238E27FC236}">
                <a16:creationId xmlns:a16="http://schemas.microsoft.com/office/drawing/2014/main" id="{F095D63F-0976-6130-D5E3-16BD798D1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43824" y="3631640"/>
            <a:ext cx="2620049" cy="2620049"/>
          </a:xfrm>
          <a:prstGeom prst="rect">
            <a:avLst/>
          </a:prstGeom>
        </p:spPr>
      </p:pic>
      <p:pic>
        <p:nvPicPr>
          <p:cNvPr id="5" name="Imagen 4" descr="Icono De Automatización Símbolo De Estilo De Línea De La Colección De ...">
            <a:extLst>
              <a:ext uri="{FF2B5EF4-FFF2-40B4-BE49-F238E27FC236}">
                <a16:creationId xmlns:a16="http://schemas.microsoft.com/office/drawing/2014/main" id="{FC55EFE5-2DEF-A539-7935-A44D1EA642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198" t="12877" r="15960" b="30644"/>
          <a:stretch>
            <a:fillRect/>
          </a:stretch>
        </p:blipFill>
        <p:spPr>
          <a:xfrm>
            <a:off x="6528293" y="1516674"/>
            <a:ext cx="2332356" cy="2050960"/>
          </a:xfrm>
          <a:prstGeom prst="rect">
            <a:avLst/>
          </a:prstGeom>
        </p:spPr>
      </p:pic>
      <p:pic>
        <p:nvPicPr>
          <p:cNvPr id="6" name="Imagen 5" descr="Logo de seguridad | Vector Premium">
            <a:extLst>
              <a:ext uri="{FF2B5EF4-FFF2-40B4-BE49-F238E27FC236}">
                <a16:creationId xmlns:a16="http://schemas.microsoft.com/office/drawing/2014/main" id="{34854747-ACD4-9EEE-4394-8CD316C089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754514" y="2978086"/>
            <a:ext cx="3879914" cy="3879914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B67B968-A8F3-3066-70AE-E86BE3626030}"/>
              </a:ext>
            </a:extLst>
          </p:cNvPr>
          <p:cNvSpPr txBox="1">
            <a:spLocks/>
          </p:cNvSpPr>
          <p:nvPr/>
        </p:nvSpPr>
        <p:spPr>
          <a:xfrm>
            <a:off x="3093291" y="2322826"/>
            <a:ext cx="3435002" cy="8600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latin typeface="Amasis MT Pro" panose="02040504050005020304" pitchFamily="18" charset="0"/>
              </a:rPr>
              <a:t>Estandarización y portabilidad</a:t>
            </a:r>
            <a:endParaRPr lang="es-ES" sz="3200" dirty="0">
              <a:latin typeface="Amasis MT Pro" panose="020405040500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28F936A-2279-ADCE-9962-32E234AF197C}"/>
              </a:ext>
            </a:extLst>
          </p:cNvPr>
          <p:cNvSpPr txBox="1">
            <a:spLocks/>
          </p:cNvSpPr>
          <p:nvPr/>
        </p:nvSpPr>
        <p:spPr>
          <a:xfrm>
            <a:off x="2898624" y="4007970"/>
            <a:ext cx="3824336" cy="14090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000" b="1" dirty="0">
                <a:latin typeface="Amasis MT Pro" panose="02040504050005020304" pitchFamily="18" charset="0"/>
              </a:rPr>
              <a:t>Rendimiento Nativo (Bare-metal)</a:t>
            </a:r>
            <a:endParaRPr lang="es-ES" sz="3000" dirty="0">
              <a:latin typeface="Amasis MT Pro" panose="02040504050005020304" pitchFamily="18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392CBAD-2AE4-8FF1-EF55-4B799803385A}"/>
              </a:ext>
            </a:extLst>
          </p:cNvPr>
          <p:cNvSpPr txBox="1">
            <a:spLocks/>
          </p:cNvSpPr>
          <p:nvPr/>
        </p:nvSpPr>
        <p:spPr>
          <a:xfrm>
            <a:off x="8669630" y="2354854"/>
            <a:ext cx="3435002" cy="8600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latin typeface="Amasis MT Pro" panose="02040504050005020304" pitchFamily="18" charset="0"/>
              </a:rPr>
              <a:t>Automatización robusta</a:t>
            </a:r>
            <a:endParaRPr lang="es-ES" sz="3200" dirty="0">
              <a:latin typeface="Amasis MT Pro" panose="02040504050005020304" pitchFamily="18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FC7D2E1D-B7AC-CC1D-232A-93903CED63C4}"/>
              </a:ext>
            </a:extLst>
          </p:cNvPr>
          <p:cNvSpPr txBox="1">
            <a:spLocks/>
          </p:cNvSpPr>
          <p:nvPr/>
        </p:nvSpPr>
        <p:spPr>
          <a:xfrm>
            <a:off x="8669630" y="4488012"/>
            <a:ext cx="3435002" cy="8600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latin typeface="Amasis MT Pro" panose="02040504050005020304" pitchFamily="18" charset="0"/>
              </a:rPr>
              <a:t>Seguridad y control ciego</a:t>
            </a:r>
            <a:endParaRPr lang="es-E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73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746">
        <p14:prism isContent="1"/>
      </p:transition>
    </mc:Choice>
    <mc:Fallback xmlns="">
      <p:transition spd="slow" advTm="72746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664</Words>
  <Application>Microsoft Office PowerPoint</Application>
  <PresentationFormat>Panorámica</PresentationFormat>
  <Paragraphs>119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Amasis MT Pro</vt:lpstr>
      <vt:lpstr>Amasis MT Pro Black</vt:lpstr>
      <vt:lpstr>Aptos</vt:lpstr>
      <vt:lpstr>Aptos Display</vt:lpstr>
      <vt:lpstr>Arial</vt:lpstr>
      <vt:lpstr>Tema de Office</vt:lpstr>
      <vt:lpstr>Libvirt y el ecosistema KVM/QEMU</vt:lpstr>
      <vt:lpstr>1. Introducción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VICENTE VALIENTE LÓPEZ</dc:creator>
  <cp:lastModifiedBy>SAMUEL VICENTE VALIENTE LÓPEZ</cp:lastModifiedBy>
  <cp:revision>10</cp:revision>
  <dcterms:created xsi:type="dcterms:W3CDTF">2026-06-26T11:00:16Z</dcterms:created>
  <dcterms:modified xsi:type="dcterms:W3CDTF">2026-06-28T12:04:58Z</dcterms:modified>
</cp:coreProperties>
</file>